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69" r:id="rId2"/>
    <p:sldId id="270" r:id="rId3"/>
    <p:sldId id="274" r:id="rId4"/>
    <p:sldId id="275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DD2A9-BA3F-4002-B313-DD38FCF4F7CE}" v="18" dt="2026-05-26T03:01:18.95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77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414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Fuziki" userId="3c49a3a02a78bfc6" providerId="LiveId" clId="{8B0BC43C-F013-4CDD-94EF-C7160CACFA32}"/>
    <pc:docChg chg="custSel modSld">
      <pc:chgData name="Rodrigo Fuziki" userId="3c49a3a02a78bfc6" providerId="LiveId" clId="{8B0BC43C-F013-4CDD-94EF-C7160CACFA32}" dt="2026-05-26T03:18:55.458" v="13" actId="313"/>
      <pc:docMkLst>
        <pc:docMk/>
      </pc:docMkLst>
      <pc:sldChg chg="modSp mod">
        <pc:chgData name="Rodrigo Fuziki" userId="3c49a3a02a78bfc6" providerId="LiveId" clId="{8B0BC43C-F013-4CDD-94EF-C7160CACFA32}" dt="2026-05-26T03:17:00.908" v="0" actId="20577"/>
        <pc:sldMkLst>
          <pc:docMk/>
          <pc:sldMk cId="1235528869" sldId="270"/>
        </pc:sldMkLst>
        <pc:spChg chg="mod">
          <ac:chgData name="Rodrigo Fuziki" userId="3c49a3a02a78bfc6" providerId="LiveId" clId="{8B0BC43C-F013-4CDD-94EF-C7160CACFA32}" dt="2026-05-26T03:17:00.908" v="0" actId="20577"/>
          <ac:spMkLst>
            <pc:docMk/>
            <pc:sldMk cId="1235528869" sldId="270"/>
            <ac:spMk id="2" creationId="{A2A83A9E-025B-8383-7AB3-8B34C51FF2B8}"/>
          </ac:spMkLst>
        </pc:spChg>
      </pc:sldChg>
      <pc:sldChg chg="modSp mod">
        <pc:chgData name="Rodrigo Fuziki" userId="3c49a3a02a78bfc6" providerId="LiveId" clId="{8B0BC43C-F013-4CDD-94EF-C7160CACFA32}" dt="2026-05-26T03:18:01.325" v="5" actId="313"/>
        <pc:sldMkLst>
          <pc:docMk/>
          <pc:sldMk cId="593951577" sldId="279"/>
        </pc:sldMkLst>
        <pc:spChg chg="mod">
          <ac:chgData name="Rodrigo Fuziki" userId="3c49a3a02a78bfc6" providerId="LiveId" clId="{8B0BC43C-F013-4CDD-94EF-C7160CACFA32}" dt="2026-05-26T03:18:01.325" v="5" actId="313"/>
          <ac:spMkLst>
            <pc:docMk/>
            <pc:sldMk cId="593951577" sldId="279"/>
            <ac:spMk id="2" creationId="{048EC7AA-2638-CCB2-1756-490888DFC653}"/>
          </ac:spMkLst>
        </pc:spChg>
      </pc:sldChg>
      <pc:sldChg chg="modSp mod">
        <pc:chgData name="Rodrigo Fuziki" userId="3c49a3a02a78bfc6" providerId="LiveId" clId="{8B0BC43C-F013-4CDD-94EF-C7160CACFA32}" dt="2026-05-26T03:18:50.100" v="12" actId="313"/>
        <pc:sldMkLst>
          <pc:docMk/>
          <pc:sldMk cId="4178271775" sldId="280"/>
        </pc:sldMkLst>
        <pc:spChg chg="mod">
          <ac:chgData name="Rodrigo Fuziki" userId="3c49a3a02a78bfc6" providerId="LiveId" clId="{8B0BC43C-F013-4CDD-94EF-C7160CACFA32}" dt="2026-05-26T03:18:50.100" v="12" actId="313"/>
          <ac:spMkLst>
            <pc:docMk/>
            <pc:sldMk cId="4178271775" sldId="280"/>
            <ac:spMk id="2" creationId="{F9C679E9-8535-9582-480C-A15694E01D24}"/>
          </ac:spMkLst>
        </pc:spChg>
      </pc:sldChg>
      <pc:sldChg chg="modSp mod">
        <pc:chgData name="Rodrigo Fuziki" userId="3c49a3a02a78bfc6" providerId="LiveId" clId="{8B0BC43C-F013-4CDD-94EF-C7160CACFA32}" dt="2026-05-26T03:18:27.198" v="9" actId="20577"/>
        <pc:sldMkLst>
          <pc:docMk/>
          <pc:sldMk cId="1340771926" sldId="281"/>
        </pc:sldMkLst>
        <pc:spChg chg="mod">
          <ac:chgData name="Rodrigo Fuziki" userId="3c49a3a02a78bfc6" providerId="LiveId" clId="{8B0BC43C-F013-4CDD-94EF-C7160CACFA32}" dt="2026-05-26T03:18:27.198" v="9" actId="20577"/>
          <ac:spMkLst>
            <pc:docMk/>
            <pc:sldMk cId="1340771926" sldId="281"/>
            <ac:spMk id="2" creationId="{D45DED77-C43D-021C-D270-FEABF8F7C852}"/>
          </ac:spMkLst>
        </pc:spChg>
      </pc:sldChg>
      <pc:sldChg chg="modSp mod">
        <pc:chgData name="Rodrigo Fuziki" userId="3c49a3a02a78bfc6" providerId="LiveId" clId="{8B0BC43C-F013-4CDD-94EF-C7160CACFA32}" dt="2026-05-26T03:18:55.458" v="13" actId="313"/>
        <pc:sldMkLst>
          <pc:docMk/>
          <pc:sldMk cId="1134182060" sldId="282"/>
        </pc:sldMkLst>
        <pc:spChg chg="mod">
          <ac:chgData name="Rodrigo Fuziki" userId="3c49a3a02a78bfc6" providerId="LiveId" clId="{8B0BC43C-F013-4CDD-94EF-C7160CACFA32}" dt="2026-05-26T03:18:55.458" v="13" actId="313"/>
          <ac:spMkLst>
            <pc:docMk/>
            <pc:sldMk cId="1134182060" sldId="282"/>
            <ac:spMk id="2" creationId="{81A45A18-DC8F-7BF7-9046-2087C412A00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1E8C421-2CF4-4169-A1B1-98EF081EE769}" type="datetime1">
              <a:rPr lang="pt-BR" smtClean="0"/>
              <a:t>26/05/2026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46DCAE-1661-43FF-8A44-43DAFDC1FD9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E77F6C-2F42-4685-9053-FAC10C7A352D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C971FF-EF28-4195-A575-329446EFAA5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69C971FF-EF28-4195-A575-329446EFAA5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817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endParaRPr lang="pt-BR" noProof="0" dirty="0">
              <a:solidFill>
                <a:schemeClr val="lt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94448B-5AE4-4A52-87B1-0ED7AA1BF8E1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236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8AFF84-C7CF-4DC0-B5A1-C5E5A9B75282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701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rtlCol="0" anchor="b">
            <a:normAutofit/>
          </a:bodyPr>
          <a:lstStyle>
            <a:lvl1pPr algn="l">
              <a:defRPr sz="4400" b="0" cap="all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rtlCol="0"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56EDE8-0D21-428E-BD87-C248068DC04B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33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BEDDED-DAF7-46A3-87E6-F4FD3172A0A9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045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E21C03-1418-4791-8E80-1AB8ADDC5309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210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16D8CC-B21A-495D-8E3A-7327C849E219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3906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909410-498E-4526-95B1-75B98C9EB916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297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59932B-1988-48B0-9343-EBF642976660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819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55AB99-2B9A-4C29-AC9D-472E678B27D5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029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2CE140-96D8-4024-97F4-E6B0727A2BBB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874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7AE9EF-37E1-4ACC-9F22-08226688E156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3921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bg1"/>
            </a:gs>
            <a:gs pos="40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2"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 bwMode="ltGray">
          <a:xfrm>
            <a:off x="146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pt-BR" sz="2400" noProof="0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8EB16A4D-B1E0-4F33-84EC-EFA959A70698}" type="datetime1">
              <a:rPr lang="pt-BR" noProof="0" smtClean="0"/>
              <a:t>26/05/2026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F36C87F6-986D-49E6-AF40-1B3A1EE8064D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317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0" y="33363"/>
            <a:ext cx="12188825" cy="3611661"/>
          </a:xfrm>
        </p:spPr>
        <p:txBody>
          <a:bodyPr rtlCol="0">
            <a:normAutofit/>
          </a:bodyPr>
          <a:lstStyle/>
          <a:p>
            <a:pPr algn="ctr"/>
            <a:r>
              <a:rPr lang="pt-BR" dirty="0"/>
              <a:t>Brasil x Chile</a:t>
            </a:r>
            <a:br>
              <a:rPr lang="pt-BR" dirty="0"/>
            </a:br>
            <a:br>
              <a:rPr lang="pt-BR" dirty="0"/>
            </a:br>
            <a:r>
              <a:rPr lang="pt-BR" sz="3600" dirty="0"/>
              <a:t>Diagnóstico macroeconômico comparado, 2000–2025</a:t>
            </a:r>
            <a:br>
              <a:rPr lang="pt-BR" dirty="0"/>
            </a:b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Rodrigo </a:t>
            </a:r>
            <a:r>
              <a:rPr lang="pt-BR" dirty="0" err="1"/>
              <a:t>Yuta</a:t>
            </a:r>
            <a:r>
              <a:rPr lang="pt-BR" dirty="0"/>
              <a:t> Fuziki</a:t>
            </a:r>
          </a:p>
          <a:p>
            <a:pPr rtl="0"/>
            <a:r>
              <a:rPr lang="pt-BR" dirty="0"/>
              <a:t>RA00337065</a:t>
            </a:r>
          </a:p>
        </p:txBody>
      </p:sp>
      <p:pic>
        <p:nvPicPr>
          <p:cNvPr id="2" name="Imagem 1" descr="bandeira-do-brasil.png">
            <a:extLst>
              <a:ext uri="{FF2B5EF4-FFF2-40B4-BE49-F238E27FC236}">
                <a16:creationId xmlns:a16="http://schemas.microsoft.com/office/drawing/2014/main" id="{762A645D-3704-603E-1C18-60E1442AA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147623" cy="1340768"/>
          </a:xfrm>
          <a:prstGeom prst="rect">
            <a:avLst/>
          </a:prstGeom>
        </p:spPr>
      </p:pic>
      <p:pic>
        <p:nvPicPr>
          <p:cNvPr id="3" name="Imagem 2" descr="Ficheiro:Flag of Chile.png – Wikipédia, a enciclopédia livre">
            <a:extLst>
              <a:ext uri="{FF2B5EF4-FFF2-40B4-BE49-F238E27FC236}">
                <a16:creationId xmlns:a16="http://schemas.microsoft.com/office/drawing/2014/main" id="{2FA2C0AB-8918-8899-4852-6809A7321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673" y="1"/>
            <a:ext cx="2011152" cy="134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83A9E-025B-8383-7AB3-8B34C51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2" y="260648"/>
            <a:ext cx="9753600" cy="706090"/>
          </a:xfrm>
        </p:spPr>
        <p:txBody>
          <a:bodyPr/>
          <a:lstStyle/>
          <a:p>
            <a:pPr algn="ctr"/>
            <a:r>
              <a:rPr lang="pt-BR" dirty="0"/>
              <a:t>Por que brasil x chile?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1ABB72-FF80-6635-9527-74932DBAF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12188824" cy="5661248"/>
          </a:xfrm>
        </p:spPr>
        <p:txBody>
          <a:bodyPr>
            <a:normAutofit/>
          </a:bodyPr>
          <a:lstStyle/>
          <a:p>
            <a:r>
              <a:rPr lang="pt-BR" dirty="0"/>
              <a:t>Ambas são economias latino-americanas de renda média que foram expostas a choques externos semelhantes (ciclo de commodities e crise de 2008-2009 por exemplo).</a:t>
            </a:r>
          </a:p>
          <a:p>
            <a:r>
              <a:rPr lang="pt-BR" dirty="0"/>
              <a:t>Ambos são exportadores de commodities e adotaram regimes de metas de inflação. </a:t>
            </a:r>
          </a:p>
          <a:p>
            <a:r>
              <a:rPr lang="pt-BR" dirty="0"/>
              <a:t>Apesar dessas semelhanças, apresentaram trajetórias diferentes de crescimento, inflação e investimento. </a:t>
            </a:r>
          </a:p>
          <a:p>
            <a:r>
              <a:rPr lang="pt-BR" dirty="0"/>
              <a:t>O Chile possui maior abertura comercial e regras fiscais mais rígidas, enquanto o Brasil apresenta mercado interno maior, estrutura tributária mais complexa e maior peso do setor público.</a:t>
            </a:r>
          </a:p>
          <a:p>
            <a:r>
              <a:rPr lang="pt-BR" dirty="0"/>
              <a:t>Ao comparar os 2 países podemos avaliar como diferentes arranjos institucionais afetam indicadores macroeconômicos.</a:t>
            </a:r>
          </a:p>
          <a:p>
            <a:pPr marL="45720" indent="0" algn="r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52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D69C0-9F69-0E10-64E5-1493A56B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12287100" cy="1325562"/>
          </a:xfrm>
        </p:spPr>
        <p:txBody>
          <a:bodyPr/>
          <a:lstStyle/>
          <a:p>
            <a:pPr algn="ctr"/>
            <a:r>
              <a:rPr lang="pt-BR" dirty="0"/>
              <a:t>Módulo 1: Crescimento e ciclo econômico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610C9C-BCB0-323E-EC77-B0F2822A3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5926770" cy="1066801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/>
              <a:t>Gráfico comparativo do crescimento do </a:t>
            </a:r>
            <a:r>
              <a:rPr lang="pt-BR" sz="1400" b="1" dirty="0" err="1"/>
              <a:t>pib</a:t>
            </a:r>
            <a:r>
              <a:rPr lang="pt-BR" sz="1400" b="1" dirty="0"/>
              <a:t> real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9CF6BA6D-A555-D61C-7506-411327CE37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667000"/>
            <a:ext cx="5926771" cy="4191000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E50565-1404-E540-84BE-D65F9437C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443" y="1600200"/>
            <a:ext cx="5806381" cy="1066801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Gráfico comparativo do </a:t>
            </a:r>
            <a:r>
              <a:rPr lang="pt-BR" sz="1400" b="1" dirty="0" err="1">
                <a:solidFill>
                  <a:schemeClr val="tx1"/>
                </a:solidFill>
              </a:rPr>
              <a:t>pib</a:t>
            </a:r>
            <a:r>
              <a:rPr lang="pt-BR" sz="1400" b="1" dirty="0">
                <a:solidFill>
                  <a:schemeClr val="tx1"/>
                </a:solidFill>
              </a:rPr>
              <a:t> pela ótica da demanda</a:t>
            </a:r>
          </a:p>
          <a:p>
            <a:endParaRPr lang="pt-BR" sz="1400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rgbClr val="FF0000"/>
                </a:solidFill>
              </a:rPr>
              <a:t>Observação: componente amarelo= exportações liquidas 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5A170F72-F65A-63B3-F4D8-F666298035C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1191" y="2667000"/>
            <a:ext cx="592677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3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EBD8B-1BCA-3A05-A403-4FDC3C98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1600200"/>
          </a:xfrm>
        </p:spPr>
        <p:txBody>
          <a:bodyPr/>
          <a:lstStyle/>
          <a:p>
            <a:pPr algn="ctr"/>
            <a:r>
              <a:rPr lang="pt-BR" dirty="0"/>
              <a:t>Módulo 1: Crescimento e ciclo econômico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138AB-6364-7E2D-D5A3-FE5CD033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8800"/>
            <a:ext cx="12188824" cy="5029200"/>
          </a:xfrm>
        </p:spPr>
        <p:txBody>
          <a:bodyPr>
            <a:normAutofit/>
          </a:bodyPr>
          <a:lstStyle/>
          <a:p>
            <a:r>
              <a:rPr lang="pt-BR" dirty="0"/>
              <a:t>A trajetória do Chile foi mais estável e em média, mais favorável que a brasileira: entre 2000 e 2025, o Chile cresceu </a:t>
            </a:r>
            <a:r>
              <a:rPr lang="pt-BR" b="1" dirty="0"/>
              <a:t>3,45% a.a.</a:t>
            </a:r>
            <a:r>
              <a:rPr lang="pt-BR" dirty="0"/>
              <a:t>, contra </a:t>
            </a:r>
            <a:r>
              <a:rPr lang="pt-BR" b="1" dirty="0"/>
              <a:t>2,38% a.a.</a:t>
            </a:r>
            <a:r>
              <a:rPr lang="pt-BR" dirty="0"/>
              <a:t> no Brasil. A diferença fica mais evidente em </a:t>
            </a:r>
            <a:r>
              <a:rPr lang="pt-BR" b="1" dirty="0"/>
              <a:t>2015-2019</a:t>
            </a:r>
            <a:r>
              <a:rPr lang="pt-BR" dirty="0"/>
              <a:t>, quando o Brasil registrou crescimento médio de </a:t>
            </a:r>
            <a:r>
              <a:rPr lang="pt-BR" b="1" dirty="0"/>
              <a:t>-0,50%</a:t>
            </a:r>
            <a:r>
              <a:rPr lang="pt-BR" dirty="0"/>
              <a:t>, enquanto o Chile ainda cresceu </a:t>
            </a:r>
            <a:r>
              <a:rPr lang="pt-BR" b="1" dirty="0"/>
              <a:t>1,98% a.a.</a:t>
            </a:r>
          </a:p>
          <a:p>
            <a:r>
              <a:rPr lang="pt-BR" dirty="0"/>
              <a:t>A pandemia aparece como um choque comum aos dois países, mas com intensidades diferentes. Em </a:t>
            </a:r>
            <a:r>
              <a:rPr lang="pt-BR" b="1" dirty="0"/>
              <a:t>2020</a:t>
            </a:r>
            <a:r>
              <a:rPr lang="pt-BR" dirty="0"/>
              <a:t>, o PIB chileno caiu </a:t>
            </a:r>
            <a:r>
              <a:rPr lang="pt-BR" b="1" dirty="0"/>
              <a:t>-6,14%</a:t>
            </a:r>
            <a:r>
              <a:rPr lang="pt-BR" dirty="0"/>
              <a:t>, mais que o brasileiro (</a:t>
            </a:r>
            <a:r>
              <a:rPr lang="pt-BR" b="1" dirty="0"/>
              <a:t>-3,28%</a:t>
            </a:r>
            <a:r>
              <a:rPr lang="pt-BR" dirty="0"/>
              <a:t>); em </a:t>
            </a:r>
            <a:r>
              <a:rPr lang="pt-BR" b="1" dirty="0"/>
              <a:t>2021</a:t>
            </a:r>
            <a:r>
              <a:rPr lang="pt-BR" dirty="0"/>
              <a:t>, porém, a recuperação do Chile também foi mais forte, com crescimento de </a:t>
            </a:r>
            <a:r>
              <a:rPr lang="pt-BR" b="1" dirty="0"/>
              <a:t>11,31%</a:t>
            </a:r>
            <a:r>
              <a:rPr lang="pt-BR" dirty="0"/>
              <a:t>.</a:t>
            </a:r>
          </a:p>
          <a:p>
            <a:r>
              <a:rPr lang="pt-BR" dirty="0"/>
              <a:t>A composição do PIB ajuda a entender parte dessa diferença: nos dois países o consumo das famílias domina a demanda, mas o Chile manteve maior participação do investimento, o que é consistente com seu maior PIB per capita PPP ao longo do período.</a:t>
            </a:r>
          </a:p>
        </p:txBody>
      </p:sp>
    </p:spTree>
    <p:extLst>
      <p:ext uri="{BB962C8B-B14F-4D97-AF65-F5344CB8AC3E}">
        <p14:creationId xmlns:p14="http://schemas.microsoft.com/office/powerpoint/2010/main" val="107146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FD1C-2B88-11E9-56E5-1A46CBD7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33231-2680-14EA-E79A-EE8B86AA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87100" cy="1124744"/>
          </a:xfrm>
        </p:spPr>
        <p:txBody>
          <a:bodyPr/>
          <a:lstStyle/>
          <a:p>
            <a:pPr algn="ctr"/>
            <a:r>
              <a:rPr lang="pt-BR" dirty="0"/>
              <a:t>Módulo 2: Investimento e poupança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42C1B6-BEB0-D99D-2B34-329FBF092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44824"/>
            <a:ext cx="5926770" cy="941306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/>
              <a:t>Gráfico comparativo da formação bruta de capital fixo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476309-72B9-47AC-49E7-E620AE127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443" y="1677735"/>
            <a:ext cx="5806381" cy="1124744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Gráfico comparativo do investimento estrangeiro direto</a:t>
            </a:r>
            <a:endParaRPr lang="pt-BR" sz="1600" b="1" dirty="0">
              <a:solidFill>
                <a:schemeClr val="tx1"/>
              </a:solidFill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BDA2786B-D708-1D14-7ED3-F52BF420E2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568" y="2802479"/>
            <a:ext cx="5877634" cy="4071870"/>
          </a:xfrm>
          <a:prstGeom prst="rect">
            <a:avLst/>
          </a:prstGeom>
        </p:spPr>
      </p:pic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AF4355F6-7FF9-B0B3-96D7-06C67B6FF37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82444" y="2786130"/>
            <a:ext cx="5806382" cy="40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5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E787C-BA36-E95F-C375-1AC36E6D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1052736"/>
          </a:xfrm>
        </p:spPr>
        <p:txBody>
          <a:bodyPr/>
          <a:lstStyle/>
          <a:p>
            <a:pPr algn="ctr"/>
            <a:r>
              <a:rPr lang="pt-BR" dirty="0"/>
              <a:t>Módulo 2: Investimento e poupança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8B5704-85F1-8DB0-0F55-67793D2D9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72816"/>
            <a:ext cx="12188824" cy="5085184"/>
          </a:xfrm>
        </p:spPr>
        <p:txBody>
          <a:bodyPr>
            <a:normAutofit/>
          </a:bodyPr>
          <a:lstStyle/>
          <a:p>
            <a:r>
              <a:rPr lang="pt-BR" dirty="0"/>
              <a:t>O Chile manteve uma taxa de investimento mais alta que a brasileira em todos os subperíodos analisados. Na média de 2000 a 2025, a FBCF chilena foi de </a:t>
            </a:r>
            <a:r>
              <a:rPr lang="pt-BR" b="1" dirty="0"/>
              <a:t>23,71%</a:t>
            </a:r>
            <a:r>
              <a:rPr lang="pt-BR" dirty="0"/>
              <a:t> do PIB, enquanto a brasileira ficou em </a:t>
            </a:r>
            <a:r>
              <a:rPr lang="pt-BR" b="1" dirty="0"/>
              <a:t>17,84%</a:t>
            </a:r>
            <a:r>
              <a:rPr lang="pt-BR" dirty="0"/>
              <a:t>, indicando maior esforço de acumulação de capital no Chile.</a:t>
            </a:r>
          </a:p>
          <a:p>
            <a:r>
              <a:rPr lang="pt-BR" dirty="0"/>
              <a:t>A diferença fica clara após a recessão brasileira. Em 2015-2019, a FBCF do Brasil caiu para </a:t>
            </a:r>
            <a:r>
              <a:rPr lang="pt-BR" b="1" dirty="0"/>
              <a:t>15,70%</a:t>
            </a:r>
            <a:r>
              <a:rPr lang="pt-BR" dirty="0"/>
              <a:t> do PIB, enquanto o Chile manteve investimento médio de </a:t>
            </a:r>
            <a:r>
              <a:rPr lang="pt-BR" b="1" dirty="0"/>
              <a:t>23,89% </a:t>
            </a:r>
            <a:r>
              <a:rPr lang="pt-BR" dirty="0"/>
              <a:t>do PIB, sugerindo maior resiliência do investimento chileno.</a:t>
            </a:r>
          </a:p>
          <a:p>
            <a:r>
              <a:rPr lang="pt-BR" dirty="0"/>
              <a:t>O IED também teve peso maior no Chile: em 2010-2014, as entradas líquidas chegaram a </a:t>
            </a:r>
            <a:r>
              <a:rPr lang="pt-BR" b="1" dirty="0"/>
              <a:t>9,34% </a:t>
            </a:r>
            <a:r>
              <a:rPr lang="pt-BR" dirty="0"/>
              <a:t>do PIB, contra </a:t>
            </a:r>
            <a:r>
              <a:rPr lang="pt-BR" b="1" dirty="0"/>
              <a:t>3,60%</a:t>
            </a:r>
            <a:r>
              <a:rPr lang="pt-BR" dirty="0"/>
              <a:t> no Brasil. Isso reforça a ideia de que a economia chilena, por ser mais aberta, depende mais intensamente de capitais externos para financiar investimento e crescimento.</a:t>
            </a:r>
          </a:p>
        </p:txBody>
      </p:sp>
    </p:spTree>
    <p:extLst>
      <p:ext uri="{BB962C8B-B14F-4D97-AF65-F5344CB8AC3E}">
        <p14:creationId xmlns:p14="http://schemas.microsoft.com/office/powerpoint/2010/main" val="346440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6187-9772-2379-6926-361A3EAB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EC7AA-2638-CCB2-1756-490888DF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87100" cy="1124744"/>
          </a:xfrm>
        </p:spPr>
        <p:txBody>
          <a:bodyPr/>
          <a:lstStyle/>
          <a:p>
            <a:pPr algn="ctr"/>
            <a:r>
              <a:rPr lang="pt-BR" dirty="0"/>
              <a:t>Módulo 3: Inflação e política monetária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78E75D-E76F-4A0A-BA43-EC697E12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44824"/>
            <a:ext cx="5926770" cy="941306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/>
              <a:t>Gráfico comparativo da Taxa de cambio nominal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1F35C3-D5A8-3048-887D-BF80D5611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443" y="1677735"/>
            <a:ext cx="5806381" cy="1124744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Gráfico comparativo da inflação ao consumidor</a:t>
            </a:r>
            <a:endParaRPr lang="pt-BR" sz="1600" b="1" dirty="0">
              <a:solidFill>
                <a:schemeClr val="tx1"/>
              </a:solidFill>
            </a:endParaRP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6539AD22-D6DC-872B-DEE3-98469AE3D0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75" y="2708920"/>
            <a:ext cx="5797606" cy="4149080"/>
          </a:xfrm>
          <a:prstGeom prst="rect">
            <a:avLst/>
          </a:prstGeom>
        </p:spPr>
      </p:pic>
      <p:pic>
        <p:nvPicPr>
          <p:cNvPr id="15" name="Espaço Reservado para Conteúdo 14">
            <a:extLst>
              <a:ext uri="{FF2B5EF4-FFF2-40B4-BE49-F238E27FC236}">
                <a16:creationId xmlns:a16="http://schemas.microsoft.com/office/drawing/2014/main" id="{6AE9E55A-682B-8D37-E94C-3085935FC37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91219" y="2661201"/>
            <a:ext cx="5797606" cy="419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5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679E9-8535-9582-480C-A15694E01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71400"/>
            <a:ext cx="12188825" cy="1080120"/>
          </a:xfrm>
        </p:spPr>
        <p:txBody>
          <a:bodyPr/>
          <a:lstStyle/>
          <a:p>
            <a:pPr algn="ctr"/>
            <a:r>
              <a:rPr lang="pt-BR" dirty="0"/>
              <a:t>Módulo 3: Inflação e política monetária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F87D46-B035-E200-0809-6057EA93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68760"/>
            <a:ext cx="12188825" cy="558924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pt-BR" dirty="0"/>
          </a:p>
          <a:p>
            <a:r>
              <a:rPr lang="pt-BR" dirty="0"/>
              <a:t>O Brasil apresentou inflação média mais alta que o Chile no período completo: </a:t>
            </a:r>
            <a:r>
              <a:rPr lang="pt-BR" b="1" dirty="0"/>
              <a:t>6,28% a.a. </a:t>
            </a:r>
            <a:r>
              <a:rPr lang="pt-BR" dirty="0"/>
              <a:t>contra </a:t>
            </a:r>
            <a:r>
              <a:rPr lang="pt-BR" b="1" dirty="0"/>
              <a:t>3,77% a.a</a:t>
            </a:r>
            <a:r>
              <a:rPr lang="pt-BR" dirty="0"/>
              <a:t>.. Isso sugere maior persistência inflacionária no Brasil, associada a choques cambiais, indexação e maior instabilidade macroeconômica.</a:t>
            </a:r>
          </a:p>
          <a:p>
            <a:r>
              <a:rPr lang="pt-BR" dirty="0"/>
              <a:t>No período recente, porém, o choque inflacionário atingiu fortemente os dois países. Em 2022, a inflação chegou a </a:t>
            </a:r>
            <a:r>
              <a:rPr lang="pt-BR" b="1" dirty="0"/>
              <a:t>9,28% </a:t>
            </a:r>
            <a:r>
              <a:rPr lang="pt-BR" dirty="0"/>
              <a:t>no Brasil e </a:t>
            </a:r>
            <a:r>
              <a:rPr lang="pt-BR" b="1" dirty="0"/>
              <a:t>11,64% </a:t>
            </a:r>
            <a:r>
              <a:rPr lang="pt-BR" dirty="0"/>
              <a:t>no Chile, refletindo os efeitos da pandemia, da alta dos preços internacionais e do aperto das condições globais.</a:t>
            </a:r>
          </a:p>
          <a:p>
            <a:r>
              <a:rPr lang="pt-BR" dirty="0"/>
              <a:t>O câmbio nominal também se depreciou após 2020. No Brasil, a média passou de </a:t>
            </a:r>
            <a:r>
              <a:rPr lang="pt-BR" b="1" dirty="0"/>
              <a:t>R$ 3,52/US$</a:t>
            </a:r>
            <a:r>
              <a:rPr lang="pt-BR" dirty="0"/>
              <a:t> em 2015-2019 para </a:t>
            </a:r>
            <a:r>
              <a:rPr lang="pt-BR" b="1" dirty="0"/>
              <a:t>R$ 5,22/US$ </a:t>
            </a:r>
            <a:r>
              <a:rPr lang="pt-BR" dirty="0"/>
              <a:t>em 2020-2025; no Chile, passou de cerca de </a:t>
            </a:r>
            <a:r>
              <a:rPr lang="pt-BR" b="1" dirty="0"/>
              <a:t>665 pesos/US$ </a:t>
            </a:r>
            <a:r>
              <a:rPr lang="pt-BR" dirty="0"/>
              <a:t>para </a:t>
            </a:r>
            <a:r>
              <a:rPr lang="pt-BR" b="1" dirty="0"/>
              <a:t>842 pesos/US$, </a:t>
            </a:r>
            <a:r>
              <a:rPr lang="pt-BR" dirty="0"/>
              <a:t>mostrando que a pressão cambial foi um fenômeno comum no pós-pandemia.</a:t>
            </a:r>
          </a:p>
        </p:txBody>
      </p:sp>
    </p:spTree>
    <p:extLst>
      <p:ext uri="{BB962C8B-B14F-4D97-AF65-F5344CB8AC3E}">
        <p14:creationId xmlns:p14="http://schemas.microsoft.com/office/powerpoint/2010/main" val="417827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CF0F1-D267-65C0-F6C1-1DC0280A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DED77-C43D-021C-D270-FEABF8F7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87100" cy="941306"/>
          </a:xfrm>
        </p:spPr>
        <p:txBody>
          <a:bodyPr/>
          <a:lstStyle/>
          <a:p>
            <a:pPr algn="ctr"/>
            <a:r>
              <a:rPr lang="pt-BR" dirty="0"/>
              <a:t>Módulo 4: Setor externo e câmbio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11C257-7DE0-4CA9-9D47-4806C34E0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44824"/>
            <a:ext cx="5926770" cy="941306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/>
              <a:t>Gráfico comparativo da conta corrente e balança comercial</a:t>
            </a:r>
            <a:endParaRPr lang="pt-BR" sz="16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85758B-31F5-0700-44B7-44049A9D5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443" y="1677735"/>
            <a:ext cx="5806381" cy="1124744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Gráfico comparativo do cambio real efetivo</a:t>
            </a:r>
            <a:endParaRPr lang="pt-BR" sz="1600" b="1" dirty="0">
              <a:solidFill>
                <a:schemeClr val="tx1"/>
              </a:solidFill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47A983FE-6817-C751-0568-2E3F83134F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710386"/>
            <a:ext cx="5590356" cy="4147614"/>
          </a:xfrm>
          <a:prstGeom prst="rect">
            <a:avLst/>
          </a:prstGeom>
        </p:spPr>
      </p:pic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CFE67527-183D-5DE3-D122-573EFAC27D9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04495" y="2743200"/>
            <a:ext cx="568433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7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45A18-DC8F-7BF7-9046-2087C412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1052736"/>
          </a:xfrm>
        </p:spPr>
        <p:txBody>
          <a:bodyPr/>
          <a:lstStyle/>
          <a:p>
            <a:pPr algn="ctr"/>
            <a:r>
              <a:rPr lang="pt-BR" dirty="0"/>
              <a:t>Módulo 4: Setor externo e câmbio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108819-C994-2083-F2BA-107952380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44824"/>
            <a:ext cx="12188825" cy="5013176"/>
          </a:xfrm>
        </p:spPr>
        <p:txBody>
          <a:bodyPr>
            <a:normAutofit/>
          </a:bodyPr>
          <a:lstStyle/>
          <a:p>
            <a:r>
              <a:rPr lang="pt-BR" dirty="0"/>
              <a:t>O setor externo chileno foi mais sensível ao ciclo das commodities, especialmente ao preço do cobre. Em 2005-2009, o Chile registrou forte superávit comercial médio de </a:t>
            </a:r>
            <a:r>
              <a:rPr lang="pt-BR" b="1" dirty="0"/>
              <a:t>8,96% do PIB</a:t>
            </a:r>
            <a:r>
              <a:rPr lang="pt-BR" dirty="0"/>
              <a:t>, enquanto o Brasil teve superávit bem menor, de </a:t>
            </a:r>
            <a:r>
              <a:rPr lang="pt-BR" b="1" dirty="0"/>
              <a:t>1,38% do PIB</a:t>
            </a:r>
            <a:r>
              <a:rPr lang="pt-BR" dirty="0"/>
              <a:t>.</a:t>
            </a:r>
          </a:p>
          <a:p>
            <a:r>
              <a:rPr lang="pt-BR" dirty="0"/>
              <a:t>A partir de </a:t>
            </a:r>
            <a:r>
              <a:rPr lang="pt-BR" b="1" dirty="0"/>
              <a:t>2010-2014</a:t>
            </a:r>
            <a:r>
              <a:rPr lang="pt-BR" dirty="0"/>
              <a:t>, os dois países passaram a registrar déficits mais relevantes em conta corrente. Nesse período, o déficit médio foi de </a:t>
            </a:r>
            <a:r>
              <a:rPr lang="pt-BR" b="1" dirty="0"/>
              <a:t>-3,79% do PIB</a:t>
            </a:r>
            <a:r>
              <a:rPr lang="pt-BR" dirty="0"/>
              <a:t> no Brasil e </a:t>
            </a:r>
            <a:r>
              <a:rPr lang="pt-BR" b="1" dirty="0"/>
              <a:t>-3,52%</a:t>
            </a:r>
            <a:r>
              <a:rPr lang="pt-BR" dirty="0"/>
              <a:t> no Chile, sugerindo maior pressão externa após o auge do boom de commodities.</a:t>
            </a:r>
          </a:p>
          <a:p>
            <a:r>
              <a:rPr lang="pt-BR" dirty="0"/>
              <a:t>O câmbio real efetivo mostra perda de valorização real nos anos mais recentes. No Chile, o índice médio caiu de </a:t>
            </a:r>
            <a:r>
              <a:rPr lang="pt-BR" b="1" dirty="0"/>
              <a:t>99,36</a:t>
            </a:r>
            <a:r>
              <a:rPr lang="pt-BR" dirty="0"/>
              <a:t> em 2010-2014 para </a:t>
            </a:r>
            <a:r>
              <a:rPr lang="pt-BR" b="1" dirty="0"/>
              <a:t>86,56</a:t>
            </a:r>
            <a:r>
              <a:rPr lang="pt-BR" dirty="0"/>
              <a:t> em 2020-2025; no Brasil, caiu de </a:t>
            </a:r>
            <a:r>
              <a:rPr lang="pt-BR" b="1" dirty="0"/>
              <a:t>93,23</a:t>
            </a:r>
            <a:r>
              <a:rPr lang="pt-BR" dirty="0"/>
              <a:t> para </a:t>
            </a:r>
            <a:r>
              <a:rPr lang="pt-BR" b="1" dirty="0"/>
              <a:t>58,76</a:t>
            </a:r>
            <a:r>
              <a:rPr lang="pt-BR" dirty="0"/>
              <a:t>, indicando uma depreciação real mais intensa no Brasil no período recente.</a:t>
            </a:r>
          </a:p>
        </p:txBody>
      </p:sp>
    </p:spTree>
    <p:extLst>
      <p:ext uri="{BB962C8B-B14F-4D97-AF65-F5344CB8AC3E}">
        <p14:creationId xmlns:p14="http://schemas.microsoft.com/office/powerpoint/2010/main" val="113418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0756-CF90-14B5-E710-20EE80A34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9560E-F58B-6495-445D-2D29CC094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87100" cy="112474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Módulo 5: condições fiscais e mercado de trabalho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D8E9C6-F064-8CBD-F161-798B22F7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844824"/>
            <a:ext cx="5926770" cy="941306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/>
              <a:t>Gráfico comparativo da taxa de desemprego</a:t>
            </a:r>
            <a:endParaRPr lang="pt-BR" sz="16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C4081A-1924-0928-893B-27A6CB928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443" y="1677735"/>
            <a:ext cx="5806381" cy="1124744"/>
          </a:xfrm>
        </p:spPr>
        <p:txBody>
          <a:bodyPr>
            <a:norm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Gráfico comparativo da divida pública</a:t>
            </a:r>
          </a:p>
          <a:p>
            <a:pPr algn="ctr"/>
            <a:endParaRPr lang="pt-BR" sz="1400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rgbClr val="FF0000"/>
                </a:solidFill>
              </a:rPr>
              <a:t>Observação: há poucos dados sobre o chile</a:t>
            </a:r>
            <a:endParaRPr lang="pt-BR" sz="1400" dirty="0">
              <a:solidFill>
                <a:srgbClr val="FF0000"/>
              </a:solidFill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31EF7A35-2643-9D99-54DB-B243CD0F3F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1" y="2743200"/>
            <a:ext cx="5926770" cy="4114800"/>
          </a:xfrm>
          <a:prstGeom prst="rect">
            <a:avLst/>
          </a:prstGeom>
        </p:spPr>
      </p:pic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8CB5C293-8456-3EE1-A6A8-7133DF3BDC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04495" y="2743200"/>
            <a:ext cx="568432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2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38782-E811-F755-8225-88F4207F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1600200"/>
          </a:xfrm>
        </p:spPr>
        <p:txBody>
          <a:bodyPr/>
          <a:lstStyle/>
          <a:p>
            <a:pPr algn="ctr"/>
            <a:r>
              <a:rPr lang="pt-BR" dirty="0"/>
              <a:t>Módulo 5: Condições fiscais e mercado de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73F24B-3F04-108D-F026-4BC70A73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8800"/>
            <a:ext cx="12188825" cy="50292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pt-BR" dirty="0">
                <a:solidFill>
                  <a:srgbClr val="FF0000"/>
                </a:solidFill>
              </a:rPr>
              <a:t>Observação: A comparação da dívida pública precisa ser lida com cautela, porque o WDI apresenta cobertura muito limitada para o Chile nesse indicador. </a:t>
            </a:r>
          </a:p>
          <a:p>
            <a:r>
              <a:rPr lang="pt-BR" dirty="0"/>
              <a:t>Para o Brasil, a série mostra aumento expressivo da dívida: a média passou de </a:t>
            </a:r>
            <a:r>
              <a:rPr lang="pt-BR" b="1" dirty="0"/>
              <a:t>59,24%</a:t>
            </a:r>
            <a:r>
              <a:rPr lang="pt-BR" dirty="0"/>
              <a:t> do PIB em 2010-2014 para </a:t>
            </a:r>
            <a:r>
              <a:rPr lang="pt-BR" b="1" dirty="0"/>
              <a:t>80,76% </a:t>
            </a:r>
            <a:r>
              <a:rPr lang="pt-BR" dirty="0"/>
              <a:t>em 2015-2019 e </a:t>
            </a:r>
            <a:r>
              <a:rPr lang="pt-BR" b="1" dirty="0"/>
              <a:t>85,54%</a:t>
            </a:r>
            <a:r>
              <a:rPr lang="pt-BR" dirty="0"/>
              <a:t> em 2020-2025.</a:t>
            </a:r>
          </a:p>
          <a:p>
            <a:r>
              <a:rPr lang="pt-BR" dirty="0"/>
              <a:t>Esse aumento da dívida brasileira está associado à recessão de 2015-2016, à piora do resultado fiscal e, depois, aos gastos extraordinários durante a pandemia. </a:t>
            </a:r>
          </a:p>
          <a:p>
            <a:r>
              <a:rPr lang="pt-BR" dirty="0"/>
              <a:t>No mercado de trabalho, os dois países foram afetados pela pandemia, mas o Brasil teve desemprego mais elevado no pico da crise. Em 2020, a taxa chegou a </a:t>
            </a:r>
            <a:r>
              <a:rPr lang="pt-BR" b="1" dirty="0"/>
              <a:t>13,70%</a:t>
            </a:r>
            <a:r>
              <a:rPr lang="pt-BR" dirty="0"/>
              <a:t> no Brasil e </a:t>
            </a:r>
            <a:r>
              <a:rPr lang="pt-BR" b="1" dirty="0"/>
              <a:t>10,93%</a:t>
            </a:r>
            <a:r>
              <a:rPr lang="pt-BR" dirty="0"/>
              <a:t> no Chile; em 2024, o Brasil caiu para </a:t>
            </a:r>
            <a:r>
              <a:rPr lang="pt-BR" b="1" dirty="0"/>
              <a:t>6,80%</a:t>
            </a:r>
            <a:r>
              <a:rPr lang="pt-BR" dirty="0"/>
              <a:t>, enquanto o Chile permaneceu em </a:t>
            </a:r>
            <a:r>
              <a:rPr lang="pt-BR" b="1" dirty="0"/>
              <a:t>8,72%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929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98EDE-5590-0A60-8F64-14567E50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88825" cy="908720"/>
          </a:xfrm>
        </p:spPr>
        <p:txBody>
          <a:bodyPr/>
          <a:lstStyle/>
          <a:p>
            <a:pPr algn="ctr"/>
            <a:r>
              <a:rPr lang="pt-BR" dirty="0"/>
              <a:t>Síntese e conclusões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57581-25FA-11A3-A007-E5140CE03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24744"/>
            <a:ext cx="12188825" cy="5733256"/>
          </a:xfrm>
        </p:spPr>
        <p:txBody>
          <a:bodyPr>
            <a:normAutofit lnSpcReduction="10000"/>
          </a:bodyPr>
          <a:lstStyle/>
          <a:p>
            <a:r>
              <a:rPr lang="pt-BR" sz="2000" dirty="0"/>
              <a:t>A comparação entre Brasil e Chile mostra duas economias latino-americanas expostas a choques parecidos, mas com trajetórias macroeconômicas diferentes. </a:t>
            </a:r>
          </a:p>
          <a:p>
            <a:r>
              <a:rPr lang="pt-BR" sz="2000" dirty="0"/>
              <a:t>O Brasil teve desempenho mais instável, especialmente após a recessão de 2015-2016, que reduziu o crescimento, afetou o investimento e agravou a situação fiscal. A dívida pública brasileira aumentou de média de </a:t>
            </a:r>
            <a:r>
              <a:rPr lang="pt-BR" sz="2000" b="1" dirty="0"/>
              <a:t>59,24% do PIB </a:t>
            </a:r>
            <a:r>
              <a:rPr lang="pt-BR" sz="2000" dirty="0"/>
              <a:t>em 2010-2014 para </a:t>
            </a:r>
            <a:r>
              <a:rPr lang="pt-BR" sz="2000" b="1" dirty="0"/>
              <a:t>85,54% </a:t>
            </a:r>
            <a:r>
              <a:rPr lang="pt-BR" sz="2000" dirty="0"/>
              <a:t>em 2020-2025.</a:t>
            </a:r>
          </a:p>
          <a:p>
            <a:r>
              <a:rPr lang="pt-BR" sz="2000" dirty="0"/>
              <a:t>O Chile, por outro lado, teve inflação média menor no período completo (</a:t>
            </a:r>
            <a:r>
              <a:rPr lang="pt-BR" sz="2000" b="1" dirty="0"/>
              <a:t>3,77% a.a</a:t>
            </a:r>
            <a:r>
              <a:rPr lang="pt-BR" sz="2000" dirty="0"/>
              <a:t>. contra </a:t>
            </a:r>
            <a:r>
              <a:rPr lang="pt-BR" sz="2000" b="1" dirty="0"/>
              <a:t>6,28% </a:t>
            </a:r>
            <a:r>
              <a:rPr lang="pt-BR" sz="2000" dirty="0"/>
              <a:t>no Brasil) e maior participação do investimento no PIB. No entanto, sua economia também mostrou forte sensibilidade ao setor externo, especialmente ao ciclo de commodities e ao preço do cobre.</a:t>
            </a:r>
          </a:p>
          <a:p>
            <a:r>
              <a:rPr lang="pt-BR" sz="2000" dirty="0"/>
              <a:t>A pandemia e o choque inflacionário global afetaram os dois países. Em 2020, o PIB caiu nos dois casos, e em 2022 a inflação atingiu níveis elevados: </a:t>
            </a:r>
            <a:r>
              <a:rPr lang="pt-BR" sz="2000" b="1" dirty="0"/>
              <a:t>9,28% </a:t>
            </a:r>
            <a:r>
              <a:rPr lang="pt-BR" sz="2000" dirty="0"/>
              <a:t>no Brasil e </a:t>
            </a:r>
            <a:r>
              <a:rPr lang="pt-BR" sz="2000" b="1" dirty="0"/>
              <a:t>11,64%</a:t>
            </a:r>
            <a:r>
              <a:rPr lang="pt-BR" sz="2000" dirty="0"/>
              <a:t> no Chile. Isso mostra que, apesar das diferenças estruturais, ambos permanecem vulneráveis a choques globais.</a:t>
            </a:r>
          </a:p>
          <a:p>
            <a:r>
              <a:rPr lang="pt-BR" sz="2000" dirty="0"/>
              <a:t>Podemos então ver que o Chile apresentou trajetória mais favorável em crescimento, investimento e inflação, enquanto o Brasil se destacou por maior instabilidade macroeconômica e maior deterioração fiscal. </a:t>
            </a:r>
          </a:p>
          <a:p>
            <a:r>
              <a:rPr lang="pt-BR" sz="2000" dirty="0"/>
              <a:t>A comparação portanto, sugere que diferenças em abertura econômica, investimento e gestão fiscal ajudam a explicar os resultados distintos observados no período.</a:t>
            </a:r>
          </a:p>
        </p:txBody>
      </p:sp>
    </p:spTree>
    <p:extLst>
      <p:ext uri="{BB962C8B-B14F-4D97-AF65-F5344CB8AC3E}">
        <p14:creationId xmlns:p14="http://schemas.microsoft.com/office/powerpoint/2010/main" val="341763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resentação de relatório mundial de paí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877_TF03460629" id="{77A25CC9-953C-4BFA-9BCE-9DD001878FBD}" vid="{EDE676E1-F100-42D7-96C5-D51C901EC0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relatório de países do mundo</Template>
  <TotalTime>139</TotalTime>
  <Words>1292</Words>
  <Application>Microsoft Office PowerPoint</Application>
  <PresentationFormat>Personalizar</PresentationFormat>
  <Paragraphs>58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Apresentação de relatório mundial de país</vt:lpstr>
      <vt:lpstr>Brasil x Chile  Diagnóstico macroeconômico comparado, 2000–2025 </vt:lpstr>
      <vt:lpstr>Por que brasil x chile?</vt:lpstr>
      <vt:lpstr>Módulo 1: Crescimento e ciclo econômico</vt:lpstr>
      <vt:lpstr>Módulo 1: Crescimento e ciclo econômico</vt:lpstr>
      <vt:lpstr>Módulo 2: Investimento e poupança</vt:lpstr>
      <vt:lpstr>Módulo 2: Investimento e poupança</vt:lpstr>
      <vt:lpstr>Módulo 3: Inflação e política monetária</vt:lpstr>
      <vt:lpstr>Módulo 3: Inflação e política monetária</vt:lpstr>
      <vt:lpstr>Módulo 4: Setor externo e câmbio</vt:lpstr>
      <vt:lpstr>Módulo 4: Setor externo e câmbio</vt:lpstr>
      <vt:lpstr>Módulo 5: condições fiscais e mercado de trabalho</vt:lpstr>
      <vt:lpstr>Módulo 5: Condições fiscais e mercado de trabalho</vt:lpstr>
      <vt:lpstr>Síntese e conclusões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Fuziki</dc:creator>
  <cp:lastModifiedBy>Rodrigo Fuziki</cp:lastModifiedBy>
  <cp:revision>2</cp:revision>
  <dcterms:created xsi:type="dcterms:W3CDTF">2026-05-25T23:30:42Z</dcterms:created>
  <dcterms:modified xsi:type="dcterms:W3CDTF">2026-05-26T03:18:59Z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